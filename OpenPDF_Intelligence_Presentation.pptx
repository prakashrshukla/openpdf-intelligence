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0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321040" y="731520"/>
            <a:ext cx="2834640" cy="2834640"/>
          </a:xfrm>
          <a:prstGeom prst="roundRect">
            <a:avLst/>
          </a:prstGeom>
          <a:solidFill>
            <a:srgbClr val="1D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006840" y="1417320"/>
            <a:ext cx="2103120" cy="2103120"/>
          </a:xfrm>
          <a:prstGeom prst="roundRect">
            <a:avLst/>
          </a:prstGeom>
          <a:solidFill>
            <a:srgbClr val="00B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555480" y="1965960"/>
            <a:ext cx="1005840" cy="1005840"/>
          </a:xfrm>
          <a:prstGeom prst="roundRect">
            <a:avLst/>
          </a:prstGeom>
          <a:solidFill>
            <a:srgbClr val="67DC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960120"/>
            <a:ext cx="4114800" cy="27432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00B2A9"/>
                </a:solidFill>
                <a:latin typeface="Aptos"/>
              </a:rPr>
              <a:t>PROJECT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417320"/>
            <a:ext cx="7498079" cy="155448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 i="0">
                <a:solidFill>
                  <a:srgbClr val="F8FAFD"/>
                </a:solidFill>
                <a:latin typeface="Aptos"/>
              </a:rPr>
              <a:t>OpenPDF
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3246120"/>
            <a:ext cx="6858000" cy="54864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0" i="0">
                <a:solidFill>
                  <a:srgbClr val="E2E9F2"/>
                </a:solidFill>
                <a:latin typeface="Aptos"/>
              </a:rPr>
              <a:t>Local-first PDF processing with Chandra OCR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069080"/>
            <a:ext cx="6583680" cy="32004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9CADC4"/>
                </a:solidFill>
                <a:latin typeface="Aptos"/>
              </a:rPr>
              <a:t>Project overview • Architecture • Quality • Roadmap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983480"/>
            <a:ext cx="1097280" cy="329184"/>
          </a:xfrm>
          <a:prstGeom prst="roundRect">
            <a:avLst/>
          </a:prstGeom>
          <a:solidFill>
            <a:srgbClr val="00B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5020056"/>
            <a:ext cx="1024127" cy="21031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22038"/>
                </a:solidFill>
                <a:latin typeface="Aptos"/>
              </a:rPr>
              <a:t>FASTAPI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57400" y="4983480"/>
            <a:ext cx="1325880" cy="329184"/>
          </a:xfrm>
          <a:prstGeom prst="roundRect">
            <a:avLst/>
          </a:prstGeom>
          <a:solidFill>
            <a:srgbClr val="67DC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93976" y="5020056"/>
            <a:ext cx="1252728" cy="21031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22038"/>
                </a:solidFill>
                <a:latin typeface="Aptos"/>
              </a:rPr>
              <a:t>STREAMLIT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20440" y="4983480"/>
            <a:ext cx="1645920" cy="329184"/>
          </a:xfrm>
          <a:prstGeom prst="roundRect">
            <a:avLst/>
          </a:prstGeom>
          <a:solidFill>
            <a:srgbClr val="F5A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57016" y="5020056"/>
            <a:ext cx="1572768" cy="21031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22038"/>
                </a:solidFill>
                <a:latin typeface="Aptos"/>
              </a:rPr>
              <a:t>CHANDRA OCR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217920"/>
            <a:ext cx="5486400" cy="22860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9CADC4"/>
                </a:solidFill>
                <a:latin typeface="Aptos"/>
              </a:rPr>
              <a:t>Prepared from the current project context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0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5486400" cy="22860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00B2A9"/>
                </a:solidFill>
                <a:latin typeface="Aptos"/>
              </a:rPr>
              <a:t>01 / 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4864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8FAFD"/>
                </a:solidFill>
                <a:latin typeface="Aptos"/>
              </a:rPr>
              <a:t>A local-first PDF intelligence workbench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34440"/>
            <a:ext cx="10789920" cy="41148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9CADC4"/>
                </a:solidFill>
                <a:latin typeface="Aptos"/>
              </a:rPr>
              <a:t>A starter application for PDF utilities and page-level OCR, designed for a developer workstation.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3520440" cy="1783080"/>
          </a:xfrm>
          <a:prstGeom prst="roundRect">
            <a:avLst/>
          </a:prstGeom>
          <a:solidFill>
            <a:srgbClr val="1D304E"/>
          </a:solidFill>
          <a:ln w="12700">
            <a:solidFill>
              <a:srgbClr val="39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874519"/>
            <a:ext cx="64008" cy="1783080"/>
          </a:xfrm>
          <a:prstGeom prst="rect">
            <a:avLst/>
          </a:prstGeom>
          <a:solidFill>
            <a:srgbClr val="00B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2020824"/>
            <a:ext cx="3172968" cy="34747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8FAFD"/>
                </a:solidFill>
                <a:latin typeface="Aptos"/>
              </a:rPr>
              <a:t>Purpose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441448"/>
            <a:ext cx="3136392" cy="109728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E2E9F2"/>
                </a:solidFill>
                <a:latin typeface="Aptos"/>
              </a:rPr>
              <a:t>Process PDFs and turn page content into useful text and exportable results.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874519"/>
            <a:ext cx="3520440" cy="1783080"/>
          </a:xfrm>
          <a:prstGeom prst="roundRect">
            <a:avLst/>
          </a:prstGeom>
          <a:solidFill>
            <a:srgbClr val="1D304E"/>
          </a:solidFill>
          <a:ln w="12700">
            <a:solidFill>
              <a:srgbClr val="39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874519"/>
            <a:ext cx="64008" cy="1783080"/>
          </a:xfrm>
          <a:prstGeom prst="rect">
            <a:avLst/>
          </a:prstGeom>
          <a:solidFill>
            <a:srgbClr val="67DC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4568" y="2020824"/>
            <a:ext cx="3172968" cy="34747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8FAFD"/>
                </a:solidFill>
                <a:latin typeface="Aptos"/>
              </a:rPr>
              <a:t>Experience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2441448"/>
            <a:ext cx="3136392" cy="109728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E2E9F2"/>
                </a:solidFill>
                <a:latin typeface="Aptos"/>
              </a:rPr>
              <a:t>Streamlit interface backed by a FastAPI service and documented endpoints.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874519"/>
            <a:ext cx="3520440" cy="1783080"/>
          </a:xfrm>
          <a:prstGeom prst="roundRect">
            <a:avLst/>
          </a:prstGeom>
          <a:solidFill>
            <a:srgbClr val="1D304E"/>
          </a:solidFill>
          <a:ln w="12700">
            <a:solidFill>
              <a:srgbClr val="39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874519"/>
            <a:ext cx="64008" cy="1783080"/>
          </a:xfrm>
          <a:prstGeom prst="rect">
            <a:avLst/>
          </a:prstGeom>
          <a:solidFill>
            <a:srgbClr val="F5A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7888" y="2020824"/>
            <a:ext cx="3172968" cy="34747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8FAFD"/>
                </a:solidFill>
                <a:latin typeface="Aptos"/>
              </a:rPr>
              <a:t>OCR engine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2441448"/>
            <a:ext cx="3136392" cy="109728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E2E9F2"/>
                </a:solidFill>
                <a:latin typeface="Aptos"/>
              </a:rPr>
              <a:t>Chandra OCR 2 integration with local/Hugging Face configuration and a vLLM option.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160520"/>
            <a:ext cx="3657600" cy="32004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8FAFD"/>
                </a:solidFill>
                <a:latin typeface="Aptos"/>
              </a:rPr>
              <a:t>Current verified baseline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4572000"/>
            <a:ext cx="10607040" cy="132588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E2E9F2"/>
                </a:solidFill>
                <a:latin typeface="Aptos"/>
              </a:defRPr>
            </a:pPr>
            <a:r>
              <a:t>•  UI and API start locally; Swagger and health endpoint were verified.</a:t>
            </a:r>
          </a:p>
          <a:p>
            <a:pPr>
              <a:spcAft>
                <a:spcPts val="900"/>
              </a:spcAft>
              <a:defRPr sz="1400">
                <a:solidFill>
                  <a:srgbClr val="E2E9F2"/>
                </a:solidFill>
                <a:latin typeface="Aptos"/>
              </a:defRPr>
            </a:pPr>
            <a:r>
              <a:t>•  Regression baseline in the latest shared project context: 24 tests passing.</a:t>
            </a:r>
          </a:p>
          <a:p>
            <a:pPr>
              <a:spcAft>
                <a:spcPts val="900"/>
              </a:spcAft>
              <a:defRPr sz="1400">
                <a:solidFill>
                  <a:srgbClr val="E2E9F2"/>
                </a:solidFill>
                <a:latin typeface="Aptos"/>
              </a:defRPr>
            </a:pPr>
            <a:r>
              <a:t>•  Production hardening remains in progress; this is not yet a production-readiness claim.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537960"/>
            <a:ext cx="6400800" cy="16459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9CADC4"/>
                </a:solidFill>
                <a:latin typeface="Aptos"/>
              </a:rPr>
              <a:t>OPENPDF INTELLIGENCE  •  PROJECT OVERVIEW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510528"/>
            <a:ext cx="411480" cy="201168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9CADC4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0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5486400" cy="22860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00B2A9"/>
                </a:solidFill>
                <a:latin typeface="Aptos"/>
              </a:rPr>
              <a:t>02 / WHY 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4864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8FAFD"/>
                </a:solidFill>
                <a:latin typeface="Aptos"/>
              </a:rPr>
              <a:t>Reduce friction in PDF workflows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34440"/>
            <a:ext cx="10789920" cy="41148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9CADC4"/>
                </a:solidFill>
                <a:latin typeface="Aptos"/>
              </a:rPr>
              <a:t>Bring common PDF operations and OCR into one repeatable workflow.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74519"/>
            <a:ext cx="3429000" cy="2148840"/>
          </a:xfrm>
          <a:prstGeom prst="roundRect">
            <a:avLst/>
          </a:prstGeom>
          <a:solidFill>
            <a:srgbClr val="1D304E"/>
          </a:solidFill>
          <a:ln w="12700">
            <a:solidFill>
              <a:srgbClr val="39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874519"/>
            <a:ext cx="64008" cy="2148840"/>
          </a:xfrm>
          <a:prstGeom prst="rect">
            <a:avLst/>
          </a:prstGeom>
          <a:solidFill>
            <a:srgbClr val="E2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2020824"/>
            <a:ext cx="3081528" cy="34747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8FAFD"/>
                </a:solidFill>
                <a:latin typeface="Aptos"/>
              </a:rPr>
              <a:t>Typical pain points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441448"/>
            <a:ext cx="3044952" cy="146304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E2E9F2"/>
                </a:solidFill>
                <a:latin typeface="Aptos"/>
              </a:rPr>
              <a:t>Scattered utilities
Manual extraction
Scanned documents need OCR
Repeated file handling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874519"/>
            <a:ext cx="3429000" cy="2148840"/>
          </a:xfrm>
          <a:prstGeom prst="roundRect">
            <a:avLst/>
          </a:prstGeom>
          <a:solidFill>
            <a:srgbClr val="1D304E"/>
          </a:solidFill>
          <a:ln w="12700">
            <a:solidFill>
              <a:srgbClr val="39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874519"/>
            <a:ext cx="64008" cy="2148840"/>
          </a:xfrm>
          <a:prstGeom prst="rect">
            <a:avLst/>
          </a:prstGeom>
          <a:solidFill>
            <a:srgbClr val="00B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2020824"/>
            <a:ext cx="3081528" cy="34747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8FAFD"/>
                </a:solidFill>
                <a:latin typeface="Aptos"/>
              </a:rPr>
              <a:t>OpenPDF approach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2441448"/>
            <a:ext cx="3044952" cy="146304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E2E9F2"/>
                </a:solidFill>
                <a:latin typeface="Aptos"/>
              </a:rPr>
              <a:t>Unified local UI
API-backed operations
OCR on rendered pages
Downloadable export bundle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874519"/>
            <a:ext cx="3429000" cy="2148840"/>
          </a:xfrm>
          <a:prstGeom prst="roundRect">
            <a:avLst/>
          </a:prstGeom>
          <a:solidFill>
            <a:srgbClr val="1D304E"/>
          </a:solidFill>
          <a:ln w="12700">
            <a:solidFill>
              <a:srgbClr val="39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92440" y="1874519"/>
            <a:ext cx="64008" cy="2148840"/>
          </a:xfrm>
          <a:prstGeom prst="rect">
            <a:avLst/>
          </a:prstGeom>
          <a:solidFill>
            <a:srgbClr val="F5A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93608" y="2020824"/>
            <a:ext cx="3081528" cy="34747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8FAFD"/>
                </a:solidFill>
                <a:latin typeface="Aptos"/>
              </a:rPr>
              <a:t>Foundation to extend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3608" y="2441448"/>
            <a:ext cx="3044952" cy="146304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E2E9F2"/>
                </a:solidFill>
                <a:latin typeface="Aptos"/>
              </a:rPr>
              <a:t>Modular service layer
Configurable model source
Testable PDF operations
Clear hardening roadmap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709160"/>
            <a:ext cx="2011680" cy="27432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00B2A9"/>
                </a:solidFill>
                <a:latin typeface="Aptos"/>
              </a:rPr>
              <a:t>Design principle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074920"/>
            <a:ext cx="10607040" cy="64008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F8FAFD"/>
                </a:solidFill>
                <a:latin typeface="Aptos"/>
              </a:rPr>
              <a:t>Keep the application lightweight and local-first; isolate model inference behind an adapter so backend choices can evolve.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537960"/>
            <a:ext cx="6400800" cy="16459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9CADC4"/>
                </a:solidFill>
                <a:latin typeface="Aptos"/>
              </a:rPr>
              <a:t>OPENPDF INTELLIGENCE  •  PROJECT OVERVIEW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510528"/>
            <a:ext cx="411480" cy="201168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9CADC4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0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5486400" cy="22860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00B2A9"/>
                </a:solidFill>
                <a:latin typeface="Aptos"/>
              </a:rPr>
              <a:t>03 /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4864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8FAFD"/>
                </a:solidFill>
                <a:latin typeface="Aptos"/>
              </a:rPr>
              <a:t>A small, modular application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34440"/>
            <a:ext cx="10789920" cy="41148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9CADC4"/>
                </a:solidFill>
                <a:latin typeface="Aptos"/>
              </a:rPr>
              <a:t>Logical view based on the current application structure and verified endpoints.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286000"/>
            <a:ext cx="2057400" cy="1143000"/>
          </a:xfrm>
          <a:prstGeom prst="roundRect">
            <a:avLst/>
          </a:prstGeom>
          <a:solidFill>
            <a:srgbClr val="1D304E"/>
          </a:solidFill>
          <a:ln w="19050">
            <a:solidFill>
              <a:srgbClr val="67DC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432304"/>
            <a:ext cx="1874519" cy="292608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8FAFD"/>
                </a:solidFill>
                <a:latin typeface="Aptos"/>
              </a:rPr>
              <a:t>User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" y="2798064"/>
            <a:ext cx="1837943" cy="57607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E2E9F2"/>
                </a:solidFill>
                <a:latin typeface="Aptos"/>
              </a:rPr>
              <a:t>Uploads PDF
Chooses operation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54680" y="2286000"/>
            <a:ext cx="2148840" cy="1143000"/>
          </a:xfrm>
          <a:prstGeom prst="roundRect">
            <a:avLst/>
          </a:prstGeom>
          <a:solidFill>
            <a:srgbClr val="1D304E"/>
          </a:solidFill>
          <a:ln w="19050">
            <a:solidFill>
              <a:srgbClr val="00B2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46120" y="2432304"/>
            <a:ext cx="1965960" cy="292608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8FAFD"/>
                </a:solidFill>
                <a:latin typeface="Aptos"/>
              </a:rPr>
              <a:t>Streamlit UI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64408" y="2798064"/>
            <a:ext cx="1929384" cy="57607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E2E9F2"/>
                </a:solidFill>
                <a:latin typeface="Aptos"/>
              </a:rPr>
              <a:t>Interactive local front end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06440" y="2286000"/>
            <a:ext cx="2148840" cy="1143000"/>
          </a:xfrm>
          <a:prstGeom prst="roundRect">
            <a:avLst/>
          </a:prstGeom>
          <a:solidFill>
            <a:srgbClr val="1D304E"/>
          </a:solidFill>
          <a:ln w="19050">
            <a:solidFill>
              <a:srgbClr val="F5A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97879" y="2432304"/>
            <a:ext cx="1965960" cy="292608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8FAFD"/>
                </a:solidFill>
                <a:latin typeface="Aptos"/>
              </a:rPr>
              <a:t>FastAPI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16168" y="2798064"/>
            <a:ext cx="1929384" cy="57607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E2E9F2"/>
                </a:solidFill>
                <a:latin typeface="Aptos"/>
              </a:rPr>
              <a:t>Validation • endpoints
Orchestration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41080" y="1691640"/>
            <a:ext cx="2651760" cy="1143000"/>
          </a:xfrm>
          <a:prstGeom prst="roundRect">
            <a:avLst/>
          </a:prstGeom>
          <a:solidFill>
            <a:srgbClr val="1D304E"/>
          </a:solidFill>
          <a:ln w="19050">
            <a:solidFill>
              <a:srgbClr val="67DC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32519" y="1837944"/>
            <a:ext cx="2468879" cy="292608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8FAFD"/>
                </a:solidFill>
                <a:latin typeface="Aptos"/>
              </a:rPr>
              <a:t>PDF utilities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50807" y="2203704"/>
            <a:ext cx="2432304" cy="57607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E2E9F2"/>
                </a:solidFill>
                <a:latin typeface="Aptos"/>
              </a:rPr>
              <a:t>PyMuPDF / pypdf operations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3246120"/>
            <a:ext cx="2651760" cy="1143000"/>
          </a:xfrm>
          <a:prstGeom prst="roundRect">
            <a:avLst/>
          </a:prstGeom>
          <a:solidFill>
            <a:srgbClr val="1D304E"/>
          </a:solidFill>
          <a:ln w="19050">
            <a:solidFill>
              <a:srgbClr val="00B2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32519" y="3392424"/>
            <a:ext cx="2468879" cy="292608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8FAFD"/>
                </a:solidFill>
                <a:latin typeface="Aptos"/>
              </a:rPr>
              <a:t>OCR adapter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50807" y="3758183"/>
            <a:ext cx="2432304" cy="57607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E2E9F2"/>
                </a:solidFill>
                <a:latin typeface="Aptos"/>
              </a:rPr>
              <a:t>Chandra OCR 2
HF or vLLM backend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651760" y="2852928"/>
            <a:ext cx="502920" cy="0"/>
          </a:xfrm>
          <a:prstGeom prst="line">
            <a:avLst/>
          </a:prstGeom>
          <a:ln w="25400">
            <a:solidFill>
              <a:srgbClr val="00B2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303520" y="2852928"/>
            <a:ext cx="502920" cy="0"/>
          </a:xfrm>
          <a:prstGeom prst="line">
            <a:avLst/>
          </a:prstGeom>
          <a:ln w="25400">
            <a:solidFill>
              <a:srgbClr val="00B2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7955279" y="2267712"/>
            <a:ext cx="685801" cy="338328"/>
          </a:xfrm>
          <a:prstGeom prst="line">
            <a:avLst/>
          </a:prstGeom>
          <a:ln w="25400">
            <a:solidFill>
              <a:srgbClr val="00B2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955279" y="3063240"/>
            <a:ext cx="685801" cy="704088"/>
          </a:xfrm>
          <a:prstGeom prst="line">
            <a:avLst/>
          </a:prstGeom>
          <a:ln w="25400">
            <a:solidFill>
              <a:srgbClr val="00B2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77240" y="4892040"/>
            <a:ext cx="1097280" cy="27432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00B2A9"/>
                </a:solidFill>
                <a:latin typeface="Aptos"/>
              </a:rPr>
              <a:t>Outputs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4864608"/>
            <a:ext cx="8961120" cy="36576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F8FAFD"/>
                </a:solidFill>
                <a:latin typeface="Aptos"/>
              </a:rPr>
              <a:t>Extracted page text • OCR export ZIP • PDF utility results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532120"/>
            <a:ext cx="10058400" cy="32004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1">
                <a:solidFill>
                  <a:srgbClr val="9CADC4"/>
                </a:solidFill>
                <a:latin typeface="Aptos"/>
              </a:rPr>
              <a:t>OCR is sequential in the starter implementation to reduce GPU memory spikes.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537960"/>
            <a:ext cx="6400800" cy="16459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9CADC4"/>
                </a:solidFill>
                <a:latin typeface="Aptos"/>
              </a:rPr>
              <a:t>OPENPDF INTELLIGENCE  •  PROJECT OVERVIEW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0" y="6510528"/>
            <a:ext cx="411480" cy="201168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9CADC4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0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5486400" cy="22860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00B2A9"/>
                </a:solidFill>
                <a:latin typeface="Aptos"/>
              </a:rPr>
              <a:t>04 /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4864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8FAFD"/>
                </a:solidFill>
                <a:latin typeface="Aptos"/>
              </a:rPr>
              <a:t>A predictable path from upload to export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34440"/>
            <a:ext cx="10789920" cy="41148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9CADC4"/>
                </a:solidFill>
                <a:latin typeface="Aptos"/>
              </a:rPr>
              <a:t>Validation and resource controls sit before processing.</a:t>
            </a:r>
          </a:p>
        </p:txBody>
      </p:sp>
      <p:sp>
        <p:nvSpPr>
          <p:cNvPr id="5" name="Oval 4"/>
          <p:cNvSpPr/>
          <p:nvPr/>
        </p:nvSpPr>
        <p:spPr>
          <a:xfrm>
            <a:off x="1508760" y="1874519"/>
            <a:ext cx="621792" cy="621792"/>
          </a:xfrm>
          <a:prstGeom prst="ellipse">
            <a:avLst/>
          </a:prstGeom>
          <a:solidFill>
            <a:srgbClr val="00B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08760" y="1984248"/>
            <a:ext cx="621792" cy="27432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122038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743200"/>
            <a:ext cx="2103120" cy="36576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8FAFD"/>
                </a:solidFill>
                <a:latin typeface="Aptos"/>
              </a:rPr>
              <a:t>Upload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3200400"/>
            <a:ext cx="2331720" cy="86868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E2E9F2"/>
                </a:solidFill>
                <a:latin typeface="Aptos"/>
              </a:rPr>
              <a:t>Choose a PDF in the UI or call the API.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194560" y="2194560"/>
            <a:ext cx="1143000" cy="0"/>
          </a:xfrm>
          <a:prstGeom prst="line">
            <a:avLst/>
          </a:prstGeom>
          <a:ln w="25400">
            <a:solidFill>
              <a:srgbClr val="00B2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4416552" y="1874519"/>
            <a:ext cx="621792" cy="621792"/>
          </a:xfrm>
          <a:prstGeom prst="ellipse">
            <a:avLst/>
          </a:prstGeom>
          <a:solidFill>
            <a:srgbClr val="00B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16552" y="1984248"/>
            <a:ext cx="621792" cy="27432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122038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85032" y="2743200"/>
            <a:ext cx="2103120" cy="36576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8FAFD"/>
                </a:solidFill>
                <a:latin typeface="Aptos"/>
              </a:rPr>
              <a:t>Validate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75304" y="3200400"/>
            <a:ext cx="2331720" cy="86868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E2E9F2"/>
                </a:solidFill>
                <a:latin typeface="Aptos"/>
              </a:rPr>
              <a:t>Check extension, size, integrity and page count.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102352" y="2194560"/>
            <a:ext cx="1143000" cy="0"/>
          </a:xfrm>
          <a:prstGeom prst="line">
            <a:avLst/>
          </a:prstGeom>
          <a:ln w="25400">
            <a:solidFill>
              <a:srgbClr val="00B2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7324344" y="1874519"/>
            <a:ext cx="621792" cy="621792"/>
          </a:xfrm>
          <a:prstGeom prst="ellipse">
            <a:avLst/>
          </a:prstGeom>
          <a:solidFill>
            <a:srgbClr val="00B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24344" y="1984248"/>
            <a:ext cx="621792" cy="27432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122038"/>
                </a:solidFill>
                <a:latin typeface="Apto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92824" y="2743200"/>
            <a:ext cx="2103120" cy="36576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8FAFD"/>
                </a:solidFill>
                <a:latin typeface="Aptos"/>
              </a:rPr>
              <a:t>Process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83096" y="3200400"/>
            <a:ext cx="2331720" cy="86868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E2E9F2"/>
                </a:solidFill>
                <a:latin typeface="Aptos"/>
              </a:rPr>
              <a:t>Run PDF utilities or render pages for OCR.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010144" y="2194560"/>
            <a:ext cx="1143000" cy="0"/>
          </a:xfrm>
          <a:prstGeom prst="line">
            <a:avLst/>
          </a:prstGeom>
          <a:ln w="25400">
            <a:solidFill>
              <a:srgbClr val="00B2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10232136" y="1874519"/>
            <a:ext cx="621792" cy="621792"/>
          </a:xfrm>
          <a:prstGeom prst="ellipse">
            <a:avLst/>
          </a:prstGeom>
          <a:solidFill>
            <a:srgbClr val="F5A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32136" y="1984248"/>
            <a:ext cx="621792" cy="27432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122038"/>
                </a:solidFill>
                <a:latin typeface="Apto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0616" y="2743200"/>
            <a:ext cx="2103120" cy="36576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8FAFD"/>
                </a:solidFill>
                <a:latin typeface="Aptos"/>
              </a:rPr>
              <a:t>Export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90888" y="3200400"/>
            <a:ext cx="2331720" cy="86868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E2E9F2"/>
                </a:solidFill>
                <a:latin typeface="Aptos"/>
              </a:rPr>
              <a:t>Normalize results and package output.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709160"/>
            <a:ext cx="5212080" cy="914400"/>
          </a:xfrm>
          <a:prstGeom prst="roundRect">
            <a:avLst/>
          </a:prstGeom>
          <a:solidFill>
            <a:srgbClr val="1D304E"/>
          </a:solidFill>
          <a:ln w="12700">
            <a:solidFill>
              <a:srgbClr val="39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1520" y="4709160"/>
            <a:ext cx="64008" cy="914400"/>
          </a:xfrm>
          <a:prstGeom prst="rect">
            <a:avLst/>
          </a:prstGeom>
          <a:solidFill>
            <a:srgbClr val="00B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4855464"/>
            <a:ext cx="4864608" cy="34747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8FAFD"/>
                </a:solidFill>
                <a:latin typeface="Aptos"/>
              </a:rPr>
              <a:t>Input guardrails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" y="5276088"/>
            <a:ext cx="4828032" cy="22860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E2E9F2"/>
                </a:solidFill>
                <a:latin typeface="Aptos"/>
              </a:rPr>
              <a:t>Bounded PDF reads and page-count validation.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4709160"/>
            <a:ext cx="5212080" cy="914400"/>
          </a:xfrm>
          <a:prstGeom prst="roundRect">
            <a:avLst/>
          </a:prstGeom>
          <a:solidFill>
            <a:srgbClr val="1D304E"/>
          </a:solidFill>
          <a:ln w="12700">
            <a:solidFill>
              <a:srgbClr val="39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17920" y="4709160"/>
            <a:ext cx="64008" cy="914400"/>
          </a:xfrm>
          <a:prstGeom prst="rect">
            <a:avLst/>
          </a:prstGeom>
          <a:solidFill>
            <a:srgbClr val="F5A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19088" y="4855464"/>
            <a:ext cx="4864608" cy="34747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8FAFD"/>
                </a:solidFill>
                <a:latin typeface="Aptos"/>
              </a:rPr>
              <a:t>Failure behavior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19088" y="5276088"/>
            <a:ext cx="4828032" cy="22860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E2E9F2"/>
                </a:solidFill>
                <a:latin typeface="Aptos"/>
              </a:rPr>
              <a:t>OCR returns a safe error message; details are logged server-side.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6537960"/>
            <a:ext cx="6400800" cy="16459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9CADC4"/>
                </a:solidFill>
                <a:latin typeface="Aptos"/>
              </a:rPr>
              <a:t>OPENPDF INTELLIGENCE  •  PROJECT OVERVIEW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510528"/>
            <a:ext cx="411480" cy="201168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9CADC4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0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5486400" cy="22860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00B2A9"/>
                </a:solidFill>
                <a:latin typeface="Aptos"/>
              </a:rPr>
              <a:t>05 / CONFIGURATION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4864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8FAFD"/>
                </a:solidFill>
                <a:latin typeface="Aptos"/>
              </a:rPr>
              <a:t>Configuration-first model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34440"/>
            <a:ext cx="10789920" cy="41148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9CADC4"/>
                </a:solidFill>
                <a:latin typeface="Aptos"/>
              </a:rPr>
              <a:t>Environment variables and an optional .env file control runtime behavior.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3520440" cy="1828800"/>
          </a:xfrm>
          <a:prstGeom prst="roundRect">
            <a:avLst/>
          </a:prstGeom>
          <a:solidFill>
            <a:srgbClr val="1D304E"/>
          </a:solidFill>
          <a:ln w="12700">
            <a:solidFill>
              <a:srgbClr val="39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828800"/>
            <a:ext cx="64008" cy="1828800"/>
          </a:xfrm>
          <a:prstGeom prst="rect">
            <a:avLst/>
          </a:prstGeom>
          <a:solidFill>
            <a:srgbClr val="00B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975104"/>
            <a:ext cx="3172968" cy="34747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8FAFD"/>
                </a:solidFill>
                <a:latin typeface="Aptos"/>
              </a:rPr>
              <a:t>OCR backend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395728"/>
            <a:ext cx="3136392" cy="114300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2E9F2"/>
                </a:solidFill>
                <a:latin typeface="Aptos"/>
              </a:rPr>
              <a:t>OPENPDF_OCR_BACKEND
hf or vllm
Choose local Python inference or a vLLM service.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828800"/>
            <a:ext cx="3520440" cy="1828800"/>
          </a:xfrm>
          <a:prstGeom prst="roundRect">
            <a:avLst/>
          </a:prstGeom>
          <a:solidFill>
            <a:srgbClr val="1D304E"/>
          </a:solidFill>
          <a:ln w="12700">
            <a:solidFill>
              <a:srgbClr val="39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828800"/>
            <a:ext cx="64008" cy="1828800"/>
          </a:xfrm>
          <a:prstGeom prst="rect">
            <a:avLst/>
          </a:prstGeom>
          <a:solidFill>
            <a:srgbClr val="67DC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4568" y="1975104"/>
            <a:ext cx="3172968" cy="34747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8FAFD"/>
                </a:solidFill>
                <a:latin typeface="Aptos"/>
              </a:rPr>
              <a:t>Model 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2395728"/>
            <a:ext cx="3136392" cy="114300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2E9F2"/>
                </a:solidFill>
                <a:latin typeface="Aptos"/>
              </a:rPr>
              <a:t>OPENPDF_MODEL_SOURCE
local or huggingface
Local mode checks for a model directory and config.json.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0" y="1828800"/>
            <a:ext cx="3520440" cy="1828800"/>
          </a:xfrm>
          <a:prstGeom prst="roundRect">
            <a:avLst/>
          </a:prstGeom>
          <a:solidFill>
            <a:srgbClr val="1D304E"/>
          </a:solidFill>
          <a:ln w="12700">
            <a:solidFill>
              <a:srgbClr val="39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01000" y="1828800"/>
            <a:ext cx="64008" cy="1828800"/>
          </a:xfrm>
          <a:prstGeom prst="rect">
            <a:avLst/>
          </a:prstGeom>
          <a:solidFill>
            <a:srgbClr val="F5A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2168" y="1975104"/>
            <a:ext cx="3172968" cy="34747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8FAFD"/>
                </a:solidFill>
                <a:latin typeface="Aptos"/>
              </a:rPr>
              <a:t>Resource limits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02168" y="2395728"/>
            <a:ext cx="3136392" cy="114300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2E9F2"/>
                </a:solidFill>
                <a:latin typeface="Aptos"/>
              </a:rPr>
              <a:t>OPENPDF_MAX_PDF_MB
OPENPDF_MAX_PAGES
OPENPDF_RENDER_DPI
Tune input and render cost.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160520"/>
            <a:ext cx="3657600" cy="32004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8FAFD"/>
                </a:solidFill>
                <a:latin typeface="Aptos"/>
              </a:rPr>
              <a:t>Example local configuration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572000"/>
            <a:ext cx="6492240" cy="1417320"/>
          </a:xfrm>
          <a:prstGeom prst="roundRect">
            <a:avLst/>
          </a:prstGeom>
          <a:solidFill>
            <a:srgbClr val="0B1526"/>
          </a:solidFill>
          <a:ln>
            <a:solidFill>
              <a:srgbClr val="39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709160"/>
            <a:ext cx="6126480" cy="114300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7DCDA"/>
                </a:solidFill>
                <a:latin typeface="Consolas"/>
              </a:rPr>
              <a:t>OPENPDF_OCR_BACKEND=hf
OPENPDF_MODEL_SOURCE=local
OPENPDF_MODEL_ID=D:\ai_models\chandra-ocr-2
OPENPDF_MAX_PDF_MB=100
OPENPDF_MAX_PAGES=250
OPENPDF_RENDER_DPI=144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0" y="4681728"/>
            <a:ext cx="3474720" cy="109728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2E9F2"/>
                </a:solidFill>
                <a:latin typeface="Aptos"/>
              </a:rPr>
              <a:t>Model weights are not bundled. Test OCR inference separately from unit tests; first load may be slow.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537960"/>
            <a:ext cx="6400800" cy="16459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9CADC4"/>
                </a:solidFill>
                <a:latin typeface="Aptos"/>
              </a:rPr>
              <a:t>OPENPDF INTELLIGENCE  •  PROJECT OVERVIEW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510528"/>
            <a:ext cx="411480" cy="201168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9CADC4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0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5486400" cy="22860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00B2A9"/>
                </a:solidFill>
                <a:latin typeface="Aptos"/>
              </a:rPr>
              <a:t>06 / QUALITY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4864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8FAFD"/>
                </a:solidFill>
                <a:latin typeface="Aptos"/>
              </a:rPr>
              <a:t>A tested baseline with hardening underway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34440"/>
            <a:ext cx="10789920" cy="41148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9CADC4"/>
                </a:solidFill>
                <a:latin typeface="Aptos"/>
              </a:rPr>
              <a:t>The suite covers core PDF operations, configuration, and selected API behavior.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828800"/>
            <a:ext cx="2194560" cy="114300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5600" b="1" i="0">
                <a:solidFill>
                  <a:srgbClr val="00B2A9"/>
                </a:solidFill>
                <a:latin typeface="Aptos"/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2926080"/>
            <a:ext cx="3291840" cy="384048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F8FAFD"/>
                </a:solidFill>
                <a:latin typeface="Aptos"/>
              </a:rPr>
              <a:t>automated tests passing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383280"/>
            <a:ext cx="3200400" cy="36576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9CADC4"/>
                </a:solidFill>
                <a:latin typeface="Aptos"/>
              </a:rPr>
              <a:t>Latest verified baseline from shared project context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60520" y="1828800"/>
            <a:ext cx="3337560" cy="1417320"/>
          </a:xfrm>
          <a:prstGeom prst="roundRect">
            <a:avLst/>
          </a:prstGeom>
          <a:solidFill>
            <a:srgbClr val="1D304E"/>
          </a:solidFill>
          <a:ln w="12700">
            <a:solidFill>
              <a:srgbClr val="39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60520" y="1828800"/>
            <a:ext cx="64008" cy="1417320"/>
          </a:xfrm>
          <a:prstGeom prst="rect">
            <a:avLst/>
          </a:prstGeom>
          <a:solidFill>
            <a:srgbClr val="00B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61688" y="1975104"/>
            <a:ext cx="2990088" cy="34747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8FAFD"/>
                </a:solidFill>
                <a:latin typeface="Aptos"/>
              </a:rPr>
              <a:t>Input safety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61688" y="2395728"/>
            <a:ext cx="2953512" cy="73152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2E9F2"/>
                </a:solidFill>
                <a:latin typeface="Aptos"/>
              </a:rPr>
              <a:t>PDF size limit is enforced with a bounded read.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1828800"/>
            <a:ext cx="3337560" cy="1417320"/>
          </a:xfrm>
          <a:prstGeom prst="roundRect">
            <a:avLst/>
          </a:prstGeom>
          <a:solidFill>
            <a:srgbClr val="1D304E"/>
          </a:solidFill>
          <a:ln w="12700">
            <a:solidFill>
              <a:srgbClr val="39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0" y="1828800"/>
            <a:ext cx="64008" cy="1417320"/>
          </a:xfrm>
          <a:prstGeom prst="rect">
            <a:avLst/>
          </a:prstGeom>
          <a:solidFill>
            <a:srgbClr val="67DC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73568" y="1975104"/>
            <a:ext cx="2990088" cy="34747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8FAFD"/>
                </a:solidFill>
                <a:latin typeface="Aptos"/>
              </a:rPr>
              <a:t>Error hygiene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73568" y="2395728"/>
            <a:ext cx="2953512" cy="73152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2E9F2"/>
                </a:solidFill>
                <a:latin typeface="Aptos"/>
              </a:rPr>
              <a:t>OCR endpoint avoids exposing internal exception details.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60520" y="3657600"/>
            <a:ext cx="3337560" cy="1417320"/>
          </a:xfrm>
          <a:prstGeom prst="roundRect">
            <a:avLst/>
          </a:prstGeom>
          <a:solidFill>
            <a:srgbClr val="1D304E"/>
          </a:solidFill>
          <a:ln w="12700">
            <a:solidFill>
              <a:srgbClr val="39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60520" y="3657600"/>
            <a:ext cx="64008" cy="1417320"/>
          </a:xfrm>
          <a:prstGeom prst="rect">
            <a:avLst/>
          </a:prstGeom>
          <a:solidFill>
            <a:srgbClr val="F5A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61688" y="3803904"/>
            <a:ext cx="2990088" cy="34747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8FAFD"/>
                </a:solidFill>
                <a:latin typeface="Aptos"/>
              </a:rPr>
              <a:t>Configuration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61688" y="4224528"/>
            <a:ext cx="2953512" cy="73152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2E9F2"/>
                </a:solidFill>
                <a:latin typeface="Aptos"/>
              </a:rPr>
              <a:t>Local model path and settings behavior are covered.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0" y="3657600"/>
            <a:ext cx="3337560" cy="1417320"/>
          </a:xfrm>
          <a:prstGeom prst="roundRect">
            <a:avLst/>
          </a:prstGeom>
          <a:solidFill>
            <a:srgbClr val="1D304E"/>
          </a:solidFill>
          <a:ln w="12700">
            <a:solidFill>
              <a:srgbClr val="39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0" y="3657600"/>
            <a:ext cx="64008" cy="1417320"/>
          </a:xfrm>
          <a:prstGeom prst="rect">
            <a:avLst/>
          </a:prstGeom>
          <a:solidFill>
            <a:srgbClr val="E2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73568" y="3803904"/>
            <a:ext cx="2990088" cy="34747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8FAFD"/>
                </a:solidFill>
                <a:latin typeface="Aptos"/>
              </a:rPr>
              <a:t>Next gate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73568" y="4224528"/>
            <a:ext cx="2953512" cy="73152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2E9F2"/>
                </a:solidFill>
                <a:latin typeface="Aptos"/>
              </a:rPr>
              <a:t>Expand API coverage and standardize errors across routes.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5669280"/>
            <a:ext cx="10058400" cy="27432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1">
                <a:solidFill>
                  <a:srgbClr val="9CADC4"/>
                </a:solidFill>
                <a:latin typeface="Aptos"/>
              </a:rPr>
              <a:t>Rerun the full test suite before any release; count may change as the code evolves.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537960"/>
            <a:ext cx="6400800" cy="16459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9CADC4"/>
                </a:solidFill>
                <a:latin typeface="Aptos"/>
              </a:rPr>
              <a:t>OPENPDF INTELLIGENCE  •  PROJECT OVERVIEW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0" y="6510528"/>
            <a:ext cx="411480" cy="201168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9CADC4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0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5486400" cy="22860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00B2A9"/>
                </a:solidFill>
                <a:latin typeface="Aptos"/>
              </a:rPr>
              <a:t>07 /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4864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8FAFD"/>
                </a:solidFill>
                <a:latin typeface="Aptos"/>
              </a:rPr>
              <a:t>Move from working starter to release-ready tool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34440"/>
            <a:ext cx="10789920" cy="41148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9CADC4"/>
                </a:solidFill>
                <a:latin typeface="Aptos"/>
              </a:rPr>
              <a:t>Suggested sequencing based on current implementation status; dates are not assigned.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10512"/>
            <a:ext cx="1188720" cy="310896"/>
          </a:xfrm>
          <a:prstGeom prst="roundRect">
            <a:avLst/>
          </a:prstGeom>
          <a:solidFill>
            <a:srgbClr val="00B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856231"/>
            <a:ext cx="1133856" cy="201168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122038"/>
                </a:solidFill>
                <a:latin typeface="Aptos"/>
              </a:rPr>
              <a:t>PHASE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31720"/>
            <a:ext cx="2560320" cy="384048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F8FAFD"/>
                </a:solidFill>
                <a:latin typeface="Aptos"/>
              </a:rPr>
              <a:t>Stabilize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2907792"/>
            <a:ext cx="2560320" cy="173736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>
              <a:spcAft>
                <a:spcPts val="900"/>
              </a:spcAft>
              <a:defRPr sz="1200">
                <a:solidFill>
                  <a:srgbClr val="E2E9F2"/>
                </a:solidFill>
                <a:latin typeface="Aptos"/>
              </a:defRPr>
            </a:pPr>
            <a:r>
              <a:t>•  Standardize errors</a:t>
            </a:r>
          </a:p>
          <a:p>
            <a:pPr>
              <a:spcAft>
                <a:spcPts val="900"/>
              </a:spcAft>
              <a:defRPr sz="1200">
                <a:solidFill>
                  <a:srgbClr val="E2E9F2"/>
                </a:solidFill>
                <a:latin typeface="Aptos"/>
              </a:defRPr>
            </a:pPr>
            <a:r>
              <a:t>•  Aggregate multi-file limits</a:t>
            </a:r>
          </a:p>
          <a:p>
            <a:pPr>
              <a:spcAft>
                <a:spcPts val="900"/>
              </a:spcAft>
              <a:defRPr sz="1200">
                <a:solidFill>
                  <a:srgbClr val="E2E9F2"/>
                </a:solidFill>
                <a:latin typeface="Aptos"/>
              </a:defRPr>
            </a:pPr>
            <a:r>
              <a:t>•  Graceful executor shutdown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172968" y="2523744"/>
            <a:ext cx="219456" cy="0"/>
          </a:xfrm>
          <a:prstGeom prst="line">
            <a:avLst/>
          </a:prstGeom>
          <a:ln w="25400">
            <a:solidFill>
              <a:srgbClr val="00B2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593592" y="1810512"/>
            <a:ext cx="1188720" cy="310896"/>
          </a:xfrm>
          <a:prstGeom prst="roundRect">
            <a:avLst/>
          </a:prstGeom>
          <a:solidFill>
            <a:srgbClr val="67DC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21024" y="1856231"/>
            <a:ext cx="1133856" cy="201168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122038"/>
                </a:solidFill>
                <a:latin typeface="Aptos"/>
              </a:rPr>
              <a:t>PHASE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93592" y="2331720"/>
            <a:ext cx="2560320" cy="384048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F8FAFD"/>
                </a:solidFill>
                <a:latin typeface="Aptos"/>
              </a:rPr>
              <a:t>Strengthen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75304" y="2907792"/>
            <a:ext cx="2560320" cy="173736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>
              <a:spcAft>
                <a:spcPts val="900"/>
              </a:spcAft>
              <a:defRPr sz="1200">
                <a:solidFill>
                  <a:srgbClr val="E2E9F2"/>
                </a:solidFill>
                <a:latin typeface="Aptos"/>
              </a:defRPr>
            </a:pPr>
            <a:r>
              <a:t>•  Request body limits</a:t>
            </a:r>
          </a:p>
          <a:p>
            <a:pPr>
              <a:spcAft>
                <a:spcPts val="900"/>
              </a:spcAft>
              <a:defRPr sz="1200">
                <a:solidFill>
                  <a:srgbClr val="E2E9F2"/>
                </a:solidFill>
                <a:latin typeface="Aptos"/>
              </a:defRPr>
            </a:pPr>
            <a:r>
              <a:t>•  API edge-case tests</a:t>
            </a:r>
          </a:p>
          <a:p>
            <a:pPr>
              <a:spcAft>
                <a:spcPts val="900"/>
              </a:spcAft>
              <a:defRPr sz="1200">
                <a:solidFill>
                  <a:srgbClr val="E2E9F2"/>
                </a:solidFill>
                <a:latin typeface="Aptos"/>
              </a:defRPr>
            </a:pPr>
            <a:r>
              <a:t>•  Structured logs / request IDs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080760" y="2523744"/>
            <a:ext cx="219456" cy="0"/>
          </a:xfrm>
          <a:prstGeom prst="line">
            <a:avLst/>
          </a:prstGeom>
          <a:ln w="25400">
            <a:solidFill>
              <a:srgbClr val="00B2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501384" y="1810512"/>
            <a:ext cx="1188720" cy="310896"/>
          </a:xfrm>
          <a:prstGeom prst="roundRect">
            <a:avLst/>
          </a:prstGeom>
          <a:solidFill>
            <a:srgbClr val="F5A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28816" y="1856231"/>
            <a:ext cx="1133856" cy="201168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122038"/>
                </a:solidFill>
                <a:latin typeface="Aptos"/>
              </a:rPr>
              <a:t>PHASE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01384" y="2331720"/>
            <a:ext cx="2560320" cy="384048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F8FAFD"/>
                </a:solidFill>
                <a:latin typeface="Aptos"/>
              </a:rPr>
              <a:t>Operationalize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83096" y="2907792"/>
            <a:ext cx="2560320" cy="173736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>
              <a:spcAft>
                <a:spcPts val="900"/>
              </a:spcAft>
              <a:defRPr sz="1200">
                <a:solidFill>
                  <a:srgbClr val="E2E9F2"/>
                </a:solidFill>
                <a:latin typeface="Aptos"/>
              </a:defRPr>
            </a:pPr>
            <a:r>
              <a:t>•  Health vs readiness</a:t>
            </a:r>
          </a:p>
          <a:p>
            <a:pPr>
              <a:spcAft>
                <a:spcPts val="900"/>
              </a:spcAft>
              <a:defRPr sz="1200">
                <a:solidFill>
                  <a:srgbClr val="E2E9F2"/>
                </a:solidFill>
                <a:latin typeface="Aptos"/>
              </a:defRPr>
            </a:pPr>
            <a:r>
              <a:t>•  Reproducible setup</a:t>
            </a:r>
          </a:p>
          <a:p>
            <a:pPr>
              <a:spcAft>
                <a:spcPts val="900"/>
              </a:spcAft>
              <a:defRPr sz="1200">
                <a:solidFill>
                  <a:srgbClr val="E2E9F2"/>
                </a:solidFill>
                <a:latin typeface="Aptos"/>
              </a:defRPr>
            </a:pPr>
            <a:r>
              <a:t>•  Release checklist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988552" y="2523744"/>
            <a:ext cx="219456" cy="0"/>
          </a:xfrm>
          <a:prstGeom prst="line">
            <a:avLst/>
          </a:prstGeom>
          <a:ln w="25400">
            <a:solidFill>
              <a:srgbClr val="00B2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409176" y="1810512"/>
            <a:ext cx="1188720" cy="310896"/>
          </a:xfrm>
          <a:prstGeom prst="roundRect">
            <a:avLst/>
          </a:prstGeom>
          <a:solidFill>
            <a:srgbClr val="48B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36608" y="1856231"/>
            <a:ext cx="1133856" cy="201168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122038"/>
                </a:solidFill>
                <a:latin typeface="Aptos"/>
              </a:rPr>
              <a:t>PHASE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09176" y="2331720"/>
            <a:ext cx="2560320" cy="384048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F8FAFD"/>
                </a:solidFill>
                <a:latin typeface="Aptos"/>
              </a:rPr>
              <a:t>Extend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90888" y="2907792"/>
            <a:ext cx="2560320" cy="173736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>
              <a:spcAft>
                <a:spcPts val="900"/>
              </a:spcAft>
              <a:defRPr sz="1200">
                <a:solidFill>
                  <a:srgbClr val="E2E9F2"/>
                </a:solidFill>
                <a:latin typeface="Aptos"/>
              </a:defRPr>
            </a:pPr>
            <a:r>
              <a:t>•  OCR quality evaluation</a:t>
            </a:r>
          </a:p>
          <a:p>
            <a:pPr>
              <a:spcAft>
                <a:spcPts val="900"/>
              </a:spcAft>
              <a:defRPr sz="1200">
                <a:solidFill>
                  <a:srgbClr val="E2E9F2"/>
                </a:solidFill>
                <a:latin typeface="Aptos"/>
              </a:defRPr>
            </a:pPr>
            <a:r>
              <a:t>•  Benchmark memory / latency</a:t>
            </a:r>
          </a:p>
          <a:p>
            <a:pPr>
              <a:spcAft>
                <a:spcPts val="900"/>
              </a:spcAft>
              <a:defRPr sz="1200">
                <a:solidFill>
                  <a:srgbClr val="E2E9F2"/>
                </a:solidFill>
                <a:latin typeface="Aptos"/>
              </a:defRPr>
            </a:pPr>
            <a:r>
              <a:t>•  Improve UX and exports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349240"/>
            <a:ext cx="10789920" cy="54864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8FAFD"/>
                </a:solidFill>
                <a:latin typeface="Aptos"/>
              </a:rPr>
              <a:t>Release gate: tests pass, resource limits are verified, OCR is evaluated on representative PDFs, and setup is reproducible.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537960"/>
            <a:ext cx="6400800" cy="16459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9CADC4"/>
                </a:solidFill>
                <a:latin typeface="Aptos"/>
              </a:rPr>
              <a:t>OPENPDF INTELLIGENCE  •  PROJECT OVERVIEW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0" y="6510528"/>
            <a:ext cx="411480" cy="201168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9CADC4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0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5486400" cy="22860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00B2A9"/>
                </a:solidFill>
                <a:latin typeface="Aptos"/>
              </a:rPr>
              <a:t>08 / RISKS &amp; DECISIONS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4864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8FAFD"/>
                </a:solidFill>
                <a:latin typeface="Aptos"/>
              </a:rPr>
              <a:t>Resolve operational risks before wider adoption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34440"/>
            <a:ext cx="10789920" cy="41148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9CADC4"/>
                </a:solidFill>
                <a:latin typeface="Aptos"/>
              </a:rPr>
              <a:t>These are implementation considerations, not claims of known incidents.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5257800" cy="1417320"/>
          </a:xfrm>
          <a:prstGeom prst="roundRect">
            <a:avLst/>
          </a:prstGeom>
          <a:solidFill>
            <a:srgbClr val="1D304E"/>
          </a:solidFill>
          <a:ln w="12700">
            <a:solidFill>
              <a:srgbClr val="39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828800"/>
            <a:ext cx="64008" cy="1417320"/>
          </a:xfrm>
          <a:prstGeom prst="rect">
            <a:avLst/>
          </a:prstGeom>
          <a:solidFill>
            <a:srgbClr val="F5A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975104"/>
            <a:ext cx="4910328" cy="34747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8FAFD"/>
                </a:solidFill>
                <a:latin typeface="Aptos"/>
              </a:rPr>
              <a:t>GPU / memory pressure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395728"/>
            <a:ext cx="4873752" cy="73152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2E9F2"/>
                </a:solidFill>
                <a:latin typeface="Aptos"/>
              </a:rPr>
              <a:t>Large PDFs and high render DPI can raise memory and inference costs. Keep OCR sequential and measure real workloads.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5257800" cy="1417320"/>
          </a:xfrm>
          <a:prstGeom prst="roundRect">
            <a:avLst/>
          </a:prstGeom>
          <a:solidFill>
            <a:srgbClr val="1D304E"/>
          </a:solidFill>
          <a:ln w="12700">
            <a:solidFill>
              <a:srgbClr val="39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828800"/>
            <a:ext cx="64008" cy="1417320"/>
          </a:xfrm>
          <a:prstGeom prst="rect">
            <a:avLst/>
          </a:prstGeom>
          <a:solidFill>
            <a:srgbClr val="E2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975104"/>
            <a:ext cx="4910328" cy="34747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8FAFD"/>
                </a:solidFill>
                <a:latin typeface="Aptos"/>
              </a:rPr>
              <a:t>Upload resource usage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395728"/>
            <a:ext cx="4873752" cy="73152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2E9F2"/>
                </a:solidFill>
                <a:latin typeface="Aptos"/>
              </a:rPr>
              <a:t>Per-file limits may not cap a multi-file request. Add aggregate byte and page-count limits.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657600"/>
            <a:ext cx="5257800" cy="1417320"/>
          </a:xfrm>
          <a:prstGeom prst="roundRect">
            <a:avLst/>
          </a:prstGeom>
          <a:solidFill>
            <a:srgbClr val="1D304E"/>
          </a:solidFill>
          <a:ln w="12700">
            <a:solidFill>
              <a:srgbClr val="39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3657600"/>
            <a:ext cx="64008" cy="1417320"/>
          </a:xfrm>
          <a:prstGeom prst="rect">
            <a:avLst/>
          </a:prstGeom>
          <a:solidFill>
            <a:srgbClr val="67DC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6968" y="3803904"/>
            <a:ext cx="4910328" cy="34747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8FAFD"/>
                </a:solidFill>
                <a:latin typeface="Aptos"/>
              </a:rPr>
              <a:t>Model compatibility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" y="4224528"/>
            <a:ext cx="4873752" cy="73152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2E9F2"/>
                </a:solidFill>
                <a:latin typeface="Aptos"/>
              </a:rPr>
              <a:t>Verify installed Chandra API, model files, and backend versions in a reproducible environment.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657600"/>
            <a:ext cx="5257800" cy="1417320"/>
          </a:xfrm>
          <a:prstGeom prst="roundRect">
            <a:avLst/>
          </a:prstGeom>
          <a:solidFill>
            <a:srgbClr val="1D304E"/>
          </a:solidFill>
          <a:ln w="12700">
            <a:solidFill>
              <a:srgbClr val="39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3657600"/>
            <a:ext cx="64008" cy="1417320"/>
          </a:xfrm>
          <a:prstGeom prst="rect">
            <a:avLst/>
          </a:prstGeom>
          <a:solidFill>
            <a:srgbClr val="00B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19088" y="3803904"/>
            <a:ext cx="4910328" cy="34747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8FAFD"/>
                </a:solidFill>
                <a:latin typeface="Aptos"/>
              </a:rPr>
              <a:t>Production operations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088" y="4224528"/>
            <a:ext cx="4873752" cy="73152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2E9F2"/>
                </a:solidFill>
                <a:latin typeface="Aptos"/>
              </a:rPr>
              <a:t>Add consistent logs, readiness checks, graceful shutdown, and a release checklist.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623560"/>
            <a:ext cx="1920240" cy="27432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00B2A9"/>
                </a:solidFill>
                <a:latin typeface="Aptos"/>
              </a:rPr>
              <a:t>Recommended priority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5596128"/>
            <a:ext cx="8412480" cy="36576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8FAFD"/>
                </a:solidFill>
                <a:latin typeface="Aptos"/>
              </a:rPr>
              <a:t>Resource/security controls first, then OCR quality and user-facing enhancements.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537960"/>
            <a:ext cx="6400800" cy="16459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9CADC4"/>
                </a:solidFill>
                <a:latin typeface="Aptos"/>
              </a:rPr>
              <a:t>OPENPDF INTELLIGENCE  •  PROJECT OVERVIEW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510528"/>
            <a:ext cx="411480" cy="201168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9CADC4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0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31520"/>
            <a:ext cx="2286000" cy="27432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00B2A9"/>
                </a:solidFill>
                <a:latin typeface="Aptos"/>
              </a:rPr>
              <a:t>NEXT STEP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1280160"/>
            <a:ext cx="7589520" cy="132588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F8FAFD"/>
                </a:solidFill>
                <a:latin typeface="Aptos"/>
              </a:rPr>
              <a:t>Demonstrate the workflow.
Then harden it for release.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063240"/>
            <a:ext cx="3200400" cy="32004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67DCDA"/>
                </a:solidFill>
                <a:latin typeface="Aptos"/>
              </a:rPr>
              <a:t>Suggested demo sequence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93008"/>
            <a:ext cx="6675120" cy="169164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E2E9F2"/>
                </a:solidFill>
                <a:latin typeface="Aptos"/>
              </a:defRPr>
            </a:pPr>
            <a:r>
              <a:t>•  Open the Streamlit UI and upload a representative PDF.</a:t>
            </a:r>
          </a:p>
          <a:p>
            <a:pPr>
              <a:spcAft>
                <a:spcPts val="900"/>
              </a:spcAft>
              <a:defRPr sz="1400">
                <a:solidFill>
                  <a:srgbClr val="E2E9F2"/>
                </a:solidFill>
                <a:latin typeface="Aptos"/>
              </a:defRPr>
            </a:pPr>
            <a:r>
              <a:t>•  Show API health and Swagger documentation.</a:t>
            </a:r>
          </a:p>
          <a:p>
            <a:pPr>
              <a:spcAft>
                <a:spcPts val="900"/>
              </a:spcAft>
              <a:defRPr sz="1400">
                <a:solidFill>
                  <a:srgbClr val="E2E9F2"/>
                </a:solidFill>
                <a:latin typeface="Aptos"/>
              </a:defRPr>
            </a:pPr>
            <a:r>
              <a:t>•  Run OCR on a small sample and inspect the ZIP export.</a:t>
            </a:r>
          </a:p>
          <a:p>
            <a:pPr>
              <a:spcAft>
                <a:spcPts val="900"/>
              </a:spcAft>
              <a:defRPr sz="1400">
                <a:solidFill>
                  <a:srgbClr val="E2E9F2"/>
                </a:solidFill>
                <a:latin typeface="Aptos"/>
              </a:defRPr>
            </a:pPr>
            <a:r>
              <a:t>•  Show the regression command and current passing baseline.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1143000"/>
            <a:ext cx="3017520" cy="4343400"/>
          </a:xfrm>
          <a:prstGeom prst="roundRect">
            <a:avLst/>
          </a:prstGeom>
          <a:solidFill>
            <a:srgbClr val="1D304E"/>
          </a:solidFill>
          <a:ln w="19050">
            <a:solidFill>
              <a:srgbClr val="00B2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0" y="1508760"/>
            <a:ext cx="2468880" cy="32004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8FAFD"/>
                </a:solidFill>
                <a:latin typeface="Aptos"/>
              </a:rPr>
              <a:t>LOCAL ENDPOINTS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2103120"/>
            <a:ext cx="2514600" cy="64008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67DCDA"/>
                </a:solidFill>
                <a:latin typeface="Aptos"/>
              </a:rPr>
              <a:t>UI
http://127.0.0.1:8501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3063240"/>
            <a:ext cx="2560320" cy="64008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67DCDA"/>
                </a:solidFill>
                <a:latin typeface="Aptos"/>
              </a:rPr>
              <a:t>API docs
http://127.0.0.1:8000/docs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4023360"/>
            <a:ext cx="2560320" cy="64008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67DCDA"/>
                </a:solidFill>
                <a:latin typeface="Aptos"/>
              </a:rPr>
              <a:t>Health
http://127.0.0.1:8000/health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989320"/>
            <a:ext cx="2743200" cy="32004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00B2A9"/>
                </a:solidFill>
                <a:latin typeface="Aptos"/>
              </a:rPr>
              <a:t>Thank you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537960"/>
            <a:ext cx="6400800" cy="16459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9CADC4"/>
                </a:solidFill>
                <a:latin typeface="Aptos"/>
              </a:rPr>
              <a:t>OPENPDF INTELLIGENCE  •  PROJECT OVERVIEW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510528"/>
            <a:ext cx="411480" cy="201168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9CADC4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